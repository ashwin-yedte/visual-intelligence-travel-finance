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>
      <p:cViewPr>
        <p:scale>
          <a:sx n="99" d="100"/>
          <a:sy n="99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0BE10-E346-4340-9F3C-7D71B5E04837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9D888-540D-4456-8972-C0B913F89FCA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6" name="Google Shape;111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92795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7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6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7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 txBox="1"/>
          <p:nvPr/>
        </p:nvSpPr>
        <p:spPr>
          <a:xfrm>
            <a:off x="3276600" y="6596065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34;p58"/>
          <p:cNvGrpSpPr/>
          <p:nvPr/>
        </p:nvGrpSpPr>
        <p:grpSpPr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35" name="Google Shape;35;p5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" name="Google Shape;36;p5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" name="Google Shape;37;p5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38" name="Google Shape;38;p58" descr="Picture 7.png"/>
          <p:cNvPicPr preferRelativeResize="0"/>
          <p:nvPr/>
        </p:nvPicPr>
        <p:blipFill rotWithShape="1">
          <a:blip r:embed="rId2" cstate="print">
            <a:alphaModFix/>
          </a:blip>
          <a:srcRect l="1923" b="5334"/>
          <a:stretch/>
        </p:blipFill>
        <p:spPr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39;p5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40" name="Google Shape;40;p5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2" name="Google Shape;42;p5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" name="Google Shape;43;p5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4" name="Google Shape;44;p5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" name="Google Shape;45;p5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5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7" name="Google Shape;47;p58"/>
          <p:cNvSpPr txBox="1">
            <a:spLocks noGrp="1"/>
          </p:cNvSpPr>
          <p:nvPr>
            <p:ph type="body" idx="1"/>
          </p:nvPr>
        </p:nvSpPr>
        <p:spPr>
          <a:xfrm>
            <a:off x="304800" y="149383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72652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CBFE3-BAA4-48EE-9727-3E0CCE05D0C0}" type="datetimeFigureOut">
              <a:rPr lang="en-IN" smtClean="0"/>
              <a:pPr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37B02-1C43-4B18-A046-6E0807A3A4B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vdfoundation/google-landmar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vdfoundation/google-landmark" TargetMode="External"/><Relationship Id="rId3" Type="http://schemas.openxmlformats.org/officeDocument/2006/relationships/hyperlink" Target="https://arxiv.org/abs/2103.00020" TargetMode="External"/><Relationship Id="rId7" Type="http://schemas.openxmlformats.org/officeDocument/2006/relationships/hyperlink" Target="https://arxiv.org/abs/2010.1192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frontiersin.org/articles/10.3389/fcomp.2024.1249185" TargetMode="External"/><Relationship Id="rId5" Type="http://schemas.openxmlformats.org/officeDocument/2006/relationships/hyperlink" Target="https://arxiv.org/abs/2412.21059" TargetMode="External"/><Relationship Id="rId4" Type="http://schemas.openxmlformats.org/officeDocument/2006/relationships/hyperlink" Target="https://arxiv.org/abs/2403.14599" TargetMode="External"/><Relationship Id="rId9" Type="http://schemas.openxmlformats.org/officeDocument/2006/relationships/hyperlink" Target="https://arxiv.org/abs/1505.004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71800" y="3429000"/>
            <a:ext cx="5328592" cy="1524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IN" sz="2800" dirty="0" smtClean="0"/>
              <a:t>Visual Intelligence for Personalized Travel </a:t>
            </a:r>
            <a:r>
              <a:rPr lang="en-IN" sz="2800" smtClean="0"/>
              <a:t>Planning 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4941168"/>
            <a:ext cx="6019800" cy="5334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Ashwin Kumar Yedte 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(2023AC05628) 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381469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Problem Statement  </a:t>
            </a:r>
            <a:r>
              <a:rPr lang="en-US" sz="2000" dirty="0" smtClean="0">
                <a:sym typeface="Arial"/>
              </a:rPr>
              <a:t>&amp; </a:t>
            </a:r>
            <a:r>
              <a:rPr lang="en-US" sz="2800" dirty="0" smtClean="0">
                <a:sym typeface="Arial"/>
              </a:rPr>
              <a:t> Motivation</a:t>
            </a:r>
            <a:endParaRPr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8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Problem Statement: </a:t>
            </a: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     Existing visual intelligence systems for travel and image search lacks ability to convert user uploaded images into theme aware, geo optimized and finance optimized based recommendations.</a:t>
            </a:r>
            <a:endParaRPr lang="en-IN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IN" b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Example:</a:t>
            </a: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</a:t>
            </a:r>
            <a:r>
              <a:rPr lang="en-IN" i="1" dirty="0" smtClean="0"/>
              <a:t>Which sea-beach destinations best match my visual preferences, during this time of year, within my budget?”</a:t>
            </a:r>
            <a:endParaRPr lang="en-IN" sz="1800" i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IN" sz="1800" b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r>
              <a:rPr lang="en-IN" sz="1800" b="1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    Gap:</a:t>
            </a: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 </a:t>
            </a:r>
          </a:p>
          <a:p>
            <a:pPr marL="800100" lvl="1" indent="-342900"/>
            <a:r>
              <a:rPr lang="en-IN" dirty="0" smtClean="0"/>
              <a:t>Interpretation of  multiple uploaded travel images</a:t>
            </a:r>
          </a:p>
          <a:p>
            <a:pPr marL="342900" indent="-342900"/>
            <a:r>
              <a:rPr lang="en-IN" dirty="0" smtClean="0"/>
              <a:t>         Extraction and aggregation of  dominant visual themes</a:t>
            </a:r>
          </a:p>
          <a:p>
            <a:pPr marL="342900" indent="-342900"/>
            <a:r>
              <a:rPr lang="en-IN" dirty="0" smtClean="0"/>
              <a:t>         Identification and inference of  geo-locations</a:t>
            </a:r>
          </a:p>
          <a:p>
            <a:pPr marL="342900" indent="-342900"/>
            <a:r>
              <a:rPr lang="en-IN" dirty="0" smtClean="0"/>
              <a:t>         Recommendation of  similar destinations optimized for theme, location, and cost</a:t>
            </a: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System Design and Architecture</a:t>
            </a:r>
            <a:endParaRPr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755650" lvl="1" indent="-24765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8304" y="1772816"/>
            <a:ext cx="154766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323528" y="1628800"/>
            <a:ext cx="6768752" cy="10081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131840" y="1988840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Text Search Image Upload</a:t>
            </a:r>
            <a:endParaRPr lang="en-IN" sz="900" dirty="0"/>
          </a:p>
        </p:txBody>
      </p:sp>
      <p:sp>
        <p:nvSpPr>
          <p:cNvPr id="20" name="Rectangle 19"/>
          <p:cNvSpPr/>
          <p:nvPr/>
        </p:nvSpPr>
        <p:spPr>
          <a:xfrm>
            <a:off x="323528" y="2780928"/>
            <a:ext cx="6768752" cy="864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28" y="2060848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Front End/Presentation Layer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11960" y="1988840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Primary</a:t>
            </a:r>
          </a:p>
          <a:p>
            <a:pPr algn="ctr"/>
            <a:r>
              <a:rPr lang="en-US" sz="900" dirty="0" smtClean="0"/>
              <a:t>Destination</a:t>
            </a:r>
            <a:endParaRPr lang="en-IN" sz="900" dirty="0"/>
          </a:p>
        </p:txBody>
      </p:sp>
      <p:sp>
        <p:nvSpPr>
          <p:cNvPr id="25" name="Rounded Rectangle 24"/>
          <p:cNvSpPr/>
          <p:nvPr/>
        </p:nvSpPr>
        <p:spPr>
          <a:xfrm>
            <a:off x="5292080" y="1988840"/>
            <a:ext cx="100811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Recommended</a:t>
            </a:r>
          </a:p>
          <a:p>
            <a:pPr algn="ctr"/>
            <a:r>
              <a:rPr lang="en-US" sz="900" dirty="0" smtClean="0"/>
              <a:t>Destinations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520" y="2996952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VLM Intelligence  &amp;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Decision layer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11760" y="2924944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Image Analysis</a:t>
            </a:r>
            <a:endParaRPr lang="en-IN" sz="900" dirty="0"/>
          </a:p>
        </p:txBody>
      </p:sp>
      <p:sp>
        <p:nvSpPr>
          <p:cNvPr id="28" name="Rounded Rectangle 27"/>
          <p:cNvSpPr/>
          <p:nvPr/>
        </p:nvSpPr>
        <p:spPr>
          <a:xfrm>
            <a:off x="3563888" y="2924944"/>
            <a:ext cx="100811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Destination</a:t>
            </a:r>
          </a:p>
          <a:p>
            <a:pPr algn="ctr"/>
            <a:r>
              <a:rPr lang="en-US" sz="900" dirty="0" smtClean="0"/>
              <a:t>Identification</a:t>
            </a:r>
            <a:endParaRPr lang="en-IN" sz="900" dirty="0"/>
          </a:p>
        </p:txBody>
      </p:sp>
      <p:sp>
        <p:nvSpPr>
          <p:cNvPr id="29" name="Rounded Rectangle 28"/>
          <p:cNvSpPr/>
          <p:nvPr/>
        </p:nvSpPr>
        <p:spPr>
          <a:xfrm>
            <a:off x="4788024" y="2924944"/>
            <a:ext cx="1008112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Theme  Extraction &amp; Aggregation 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12160" y="2924944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Similar Destinations/</a:t>
            </a:r>
          </a:p>
          <a:p>
            <a:pPr algn="ctr"/>
            <a:r>
              <a:rPr lang="en-US" sz="900" dirty="0" smtClean="0"/>
              <a:t>Optimizations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3528" y="3717032"/>
            <a:ext cx="6768752" cy="10081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3528" y="4057327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Database layer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3528" y="5229200"/>
            <a:ext cx="6840760" cy="8640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23528" y="5209455"/>
            <a:ext cx="2160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 smtClean="0"/>
          </a:p>
          <a:p>
            <a:r>
              <a:rPr lang="en-US" sz="1400" dirty="0" smtClean="0"/>
              <a:t>Visual </a:t>
            </a:r>
            <a:r>
              <a:rPr lang="en-US" sz="1400" dirty="0"/>
              <a:t>Language </a:t>
            </a:r>
            <a:endParaRPr lang="en-US" sz="1400" dirty="0" smtClean="0"/>
          </a:p>
          <a:p>
            <a:r>
              <a:rPr lang="en-US" sz="1400" dirty="0" smtClean="0"/>
              <a:t>Encoding Layer</a:t>
            </a:r>
            <a:endParaRPr lang="en-IN" sz="1400" dirty="0"/>
          </a:p>
        </p:txBody>
      </p:sp>
      <p:sp>
        <p:nvSpPr>
          <p:cNvPr id="36" name="Rounded Rectangle 35"/>
          <p:cNvSpPr/>
          <p:nvPr/>
        </p:nvSpPr>
        <p:spPr>
          <a:xfrm>
            <a:off x="2411760" y="5373216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Image  Feature  Extraction</a:t>
            </a:r>
            <a:endParaRPr lang="en-IN" sz="900" dirty="0"/>
          </a:p>
        </p:txBody>
      </p:sp>
      <p:sp>
        <p:nvSpPr>
          <p:cNvPr id="37" name="Rounded Rectangle 36"/>
          <p:cNvSpPr/>
          <p:nvPr/>
        </p:nvSpPr>
        <p:spPr>
          <a:xfrm>
            <a:off x="3635896" y="5373216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Embedding Generation</a:t>
            </a:r>
            <a:endParaRPr lang="en-IN" sz="900" dirty="0"/>
          </a:p>
        </p:txBody>
      </p:sp>
      <p:sp>
        <p:nvSpPr>
          <p:cNvPr id="38" name="Rounded Rectangle 37"/>
          <p:cNvSpPr/>
          <p:nvPr/>
        </p:nvSpPr>
        <p:spPr>
          <a:xfrm>
            <a:off x="4860032" y="5373216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Geo Tagging</a:t>
            </a:r>
            <a:endParaRPr lang="en-IN" sz="900" dirty="0"/>
          </a:p>
        </p:txBody>
      </p:sp>
      <p:sp>
        <p:nvSpPr>
          <p:cNvPr id="39" name="Rounded Rectangle 38"/>
          <p:cNvSpPr/>
          <p:nvPr/>
        </p:nvSpPr>
        <p:spPr>
          <a:xfrm>
            <a:off x="6084168" y="5373216"/>
            <a:ext cx="93610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Geo Tagged Visual Descriptors</a:t>
            </a:r>
            <a:endParaRPr lang="en-IN" sz="900" dirty="0"/>
          </a:p>
        </p:txBody>
      </p:sp>
      <p:sp>
        <p:nvSpPr>
          <p:cNvPr id="40" name="Flowchart: Magnetic Disk 39"/>
          <p:cNvSpPr/>
          <p:nvPr/>
        </p:nvSpPr>
        <p:spPr>
          <a:xfrm>
            <a:off x="2843808" y="3968480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 smtClean="0"/>
          </a:p>
          <a:p>
            <a:pPr algn="ctr"/>
            <a:r>
              <a:rPr lang="en-US" sz="1000" dirty="0" smtClean="0"/>
              <a:t>Destination Catalogue DB	</a:t>
            </a:r>
            <a:endParaRPr lang="en-IN" sz="1000" dirty="0"/>
          </a:p>
        </p:txBody>
      </p:sp>
      <p:sp>
        <p:nvSpPr>
          <p:cNvPr id="41" name="Flowchart: Magnetic Disk 40"/>
          <p:cNvSpPr/>
          <p:nvPr/>
        </p:nvSpPr>
        <p:spPr>
          <a:xfrm>
            <a:off x="3945632" y="3968480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Destinations Vector DB</a:t>
            </a:r>
            <a:endParaRPr lang="en-IN" sz="1000" dirty="0"/>
          </a:p>
        </p:txBody>
      </p:sp>
      <p:sp>
        <p:nvSpPr>
          <p:cNvPr id="42" name="Flowchart: Magnetic Disk 41"/>
          <p:cNvSpPr/>
          <p:nvPr/>
        </p:nvSpPr>
        <p:spPr>
          <a:xfrm>
            <a:off x="5076056" y="3968480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Offers DB</a:t>
            </a:r>
            <a:endParaRPr lang="en-IN" sz="1000" dirty="0"/>
          </a:p>
        </p:txBody>
      </p:sp>
      <p:cxnSp>
        <p:nvCxnSpPr>
          <p:cNvPr id="47" name="Straight Arrow Connector 46"/>
          <p:cNvCxnSpPr>
            <a:stCxn id="28" idx="3"/>
            <a:endCxn id="29" idx="1"/>
          </p:cNvCxnSpPr>
          <p:nvPr/>
        </p:nvCxnSpPr>
        <p:spPr>
          <a:xfrm>
            <a:off x="4572000" y="3176972"/>
            <a:ext cx="216024" cy="0"/>
          </a:xfrm>
          <a:prstGeom prst="straightConnector1">
            <a:avLst/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7" idx="3"/>
            <a:endCxn id="28" idx="1"/>
          </p:cNvCxnSpPr>
          <p:nvPr/>
        </p:nvCxnSpPr>
        <p:spPr>
          <a:xfrm>
            <a:off x="3347864" y="3176972"/>
            <a:ext cx="216024" cy="0"/>
          </a:xfrm>
          <a:prstGeom prst="straightConnector1">
            <a:avLst/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9" idx="3"/>
            <a:endCxn id="30" idx="1"/>
          </p:cNvCxnSpPr>
          <p:nvPr/>
        </p:nvCxnSpPr>
        <p:spPr>
          <a:xfrm>
            <a:off x="5796136" y="3176972"/>
            <a:ext cx="216024" cy="0"/>
          </a:xfrm>
          <a:prstGeom prst="straightConnector1">
            <a:avLst/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hape 63"/>
          <p:cNvCxnSpPr>
            <a:stCxn id="19" idx="2"/>
            <a:endCxn id="27" idx="1"/>
          </p:cNvCxnSpPr>
          <p:nvPr/>
        </p:nvCxnSpPr>
        <p:spPr>
          <a:xfrm rot="5400000">
            <a:off x="2663788" y="2240868"/>
            <a:ext cx="684076" cy="1188132"/>
          </a:xfrm>
          <a:prstGeom prst="bentConnector4">
            <a:avLst>
              <a:gd name="adj1" fmla="val 10141"/>
              <a:gd name="adj2" fmla="val 119240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/>
          <p:cNvCxnSpPr>
            <a:stCxn id="28" idx="0"/>
            <a:endCxn id="24" idx="2"/>
          </p:cNvCxnSpPr>
          <p:nvPr/>
        </p:nvCxnSpPr>
        <p:spPr>
          <a:xfrm rot="5400000" flipH="1" flipV="1">
            <a:off x="4157954" y="2402886"/>
            <a:ext cx="432048" cy="612068"/>
          </a:xfrm>
          <a:prstGeom prst="bentConnector3">
            <a:avLst>
              <a:gd name="adj1" fmla="val 22046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hape 112"/>
          <p:cNvCxnSpPr>
            <a:stCxn id="40" idx="3"/>
            <a:endCxn id="36" idx="1"/>
          </p:cNvCxnSpPr>
          <p:nvPr/>
        </p:nvCxnSpPr>
        <p:spPr>
          <a:xfrm rot="5400000">
            <a:off x="2334326" y="4658562"/>
            <a:ext cx="1044116" cy="889248"/>
          </a:xfrm>
          <a:prstGeom prst="bentConnector4">
            <a:avLst>
              <a:gd name="adj1" fmla="val 37931"/>
              <a:gd name="adj2" fmla="val 125707"/>
            </a:avLst>
          </a:prstGeom>
          <a:ln w="12700" cap="sq" cmpd="sng">
            <a:solidFill>
              <a:srgbClr val="C00000"/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36" idx="3"/>
            <a:endCxn id="37" idx="1"/>
          </p:cNvCxnSpPr>
          <p:nvPr/>
        </p:nvCxnSpPr>
        <p:spPr>
          <a:xfrm>
            <a:off x="3347864" y="5625244"/>
            <a:ext cx="288032" cy="0"/>
          </a:xfrm>
          <a:prstGeom prst="straightConnector1">
            <a:avLst/>
          </a:prstGeom>
          <a:ln w="12700" cap="sq" cmpd="sng">
            <a:solidFill>
              <a:srgbClr val="C00000"/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37" idx="3"/>
            <a:endCxn id="38" idx="1"/>
          </p:cNvCxnSpPr>
          <p:nvPr/>
        </p:nvCxnSpPr>
        <p:spPr>
          <a:xfrm>
            <a:off x="4572000" y="5625244"/>
            <a:ext cx="288032" cy="0"/>
          </a:xfrm>
          <a:prstGeom prst="straightConnector1">
            <a:avLst/>
          </a:prstGeom>
          <a:ln w="12700" cap="sq" cmpd="sng">
            <a:solidFill>
              <a:srgbClr val="C00000"/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>
            <a:off x="5796136" y="5661248"/>
            <a:ext cx="288032" cy="0"/>
          </a:xfrm>
          <a:prstGeom prst="straightConnector1">
            <a:avLst/>
          </a:prstGeom>
          <a:ln w="12700" cap="sq" cmpd="sng">
            <a:solidFill>
              <a:srgbClr val="C00000"/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/>
          <p:cNvCxnSpPr>
            <a:stCxn id="39" idx="0"/>
            <a:endCxn id="41" idx="3"/>
          </p:cNvCxnSpPr>
          <p:nvPr/>
        </p:nvCxnSpPr>
        <p:spPr>
          <a:xfrm rot="16200000" flipV="1">
            <a:off x="5081482" y="3902478"/>
            <a:ext cx="792088" cy="2149388"/>
          </a:xfrm>
          <a:prstGeom prst="bentConnector3">
            <a:avLst>
              <a:gd name="adj1" fmla="val 50000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Elbow Connector 130"/>
          <p:cNvCxnSpPr>
            <a:stCxn id="41" idx="0"/>
          </p:cNvCxnSpPr>
          <p:nvPr/>
        </p:nvCxnSpPr>
        <p:spPr>
          <a:xfrm rot="16200000" flipV="1">
            <a:off x="3863540" y="3633404"/>
            <a:ext cx="743696" cy="334888"/>
          </a:xfrm>
          <a:prstGeom prst="bentConnector3">
            <a:avLst>
              <a:gd name="adj1" fmla="val 50000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hape 144"/>
          <p:cNvCxnSpPr>
            <a:stCxn id="41" idx="1"/>
            <a:endCxn id="30" idx="3"/>
          </p:cNvCxnSpPr>
          <p:nvPr/>
        </p:nvCxnSpPr>
        <p:spPr>
          <a:xfrm rot="5400000" flipH="1" flipV="1">
            <a:off x="5279794" y="2300010"/>
            <a:ext cx="791508" cy="2545432"/>
          </a:xfrm>
          <a:prstGeom prst="bentConnector4">
            <a:avLst>
              <a:gd name="adj1" fmla="val 13372"/>
              <a:gd name="adj2" fmla="val 103898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hape 148"/>
          <p:cNvCxnSpPr>
            <a:stCxn id="42" idx="4"/>
            <a:endCxn id="30" idx="2"/>
          </p:cNvCxnSpPr>
          <p:nvPr/>
        </p:nvCxnSpPr>
        <p:spPr>
          <a:xfrm flipV="1">
            <a:off x="5990456" y="3429000"/>
            <a:ext cx="489756" cy="845804"/>
          </a:xfrm>
          <a:prstGeom prst="bentConnector2">
            <a:avLst/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hape 155"/>
          <p:cNvCxnSpPr>
            <a:endCxn id="25" idx="0"/>
          </p:cNvCxnSpPr>
          <p:nvPr/>
        </p:nvCxnSpPr>
        <p:spPr>
          <a:xfrm rot="16200000" flipV="1">
            <a:off x="5688124" y="2096852"/>
            <a:ext cx="936104" cy="720080"/>
          </a:xfrm>
          <a:prstGeom prst="bentConnector3">
            <a:avLst>
              <a:gd name="adj1" fmla="val 124420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41" idx="1"/>
            <a:endCxn id="27" idx="2"/>
          </p:cNvCxnSpPr>
          <p:nvPr/>
        </p:nvCxnSpPr>
        <p:spPr>
          <a:xfrm rot="16200000" flipV="1">
            <a:off x="3371582" y="2937230"/>
            <a:ext cx="539480" cy="1523020"/>
          </a:xfrm>
          <a:prstGeom prst="bentConnector3">
            <a:avLst>
              <a:gd name="adj1" fmla="val 50000"/>
            </a:avLst>
          </a:prstGeom>
          <a:ln w="12700" cap="sq" cmpd="sng">
            <a:solidFill>
              <a:schemeClr val="tx2">
                <a:lumMod val="75000"/>
              </a:schemeClr>
            </a:solidFill>
            <a:bevel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VLM Intelligence &amp; Decision Layer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484784"/>
            <a:ext cx="8280920" cy="136815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79512" y="1475492"/>
            <a:ext cx="1661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u="sng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Image Analysis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323528" y="1916832"/>
            <a:ext cx="93610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Image Validations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47664" y="1916832"/>
            <a:ext cx="93610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Pre-process 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" idx="3"/>
            <a:endCxn id="9" idx="1"/>
          </p:cNvCxnSpPr>
          <p:nvPr/>
        </p:nvCxnSpPr>
        <p:spPr>
          <a:xfrm>
            <a:off x="1259632" y="2168860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71800" y="1916832"/>
            <a:ext cx="93610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CLIP Visual Encoding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483768" y="2204864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95936" y="1916832"/>
            <a:ext cx="1008112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Similarity Computation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2" idx="3"/>
            <a:endCxn id="18" idx="1"/>
          </p:cNvCxnSpPr>
          <p:nvPr/>
        </p:nvCxnSpPr>
        <p:spPr>
          <a:xfrm>
            <a:off x="3707904" y="2168860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92080" y="1916832"/>
            <a:ext cx="1008112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Theme Selection and Ranking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/>
          <p:cNvCxnSpPr>
            <a:endCxn id="23" idx="1"/>
          </p:cNvCxnSpPr>
          <p:nvPr/>
        </p:nvCxnSpPr>
        <p:spPr>
          <a:xfrm>
            <a:off x="5004048" y="2168860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8224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Multi-Image aggregation and Scoring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300192" y="2204864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3140968"/>
            <a:ext cx="8856984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VLM Intelligence &amp; Decision Layer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484784"/>
            <a:ext cx="8280920" cy="136815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79512" y="1475492"/>
            <a:ext cx="2702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u="sng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Destination Identification</a:t>
            </a:r>
            <a:endParaRPr lang="en-IN" dirty="0"/>
          </a:p>
        </p:txBody>
      </p:sp>
      <p:sp>
        <p:nvSpPr>
          <p:cNvPr id="25" name="Rounded Rectangle 24"/>
          <p:cNvSpPr/>
          <p:nvPr/>
        </p:nvSpPr>
        <p:spPr>
          <a:xfrm>
            <a:off x="323528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Results of Image Analysis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07704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Image Retrieval  Destination DB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5" idx="3"/>
            <a:endCxn id="20" idx="1"/>
          </p:cNvCxnSpPr>
          <p:nvPr/>
        </p:nvCxnSpPr>
        <p:spPr>
          <a:xfrm>
            <a:off x="1475656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3"/>
          </p:cNvCxnSpPr>
          <p:nvPr/>
        </p:nvCxnSpPr>
        <p:spPr>
          <a:xfrm>
            <a:off x="3059832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9872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Land Mark &amp; CF Scoring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6" idx="3"/>
          </p:cNvCxnSpPr>
          <p:nvPr/>
        </p:nvCxnSpPr>
        <p:spPr>
          <a:xfrm>
            <a:off x="4572000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04048" y="1916832"/>
            <a:ext cx="1584176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Visual Gallery  Update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48264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User Communication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>
            <a:stCxn id="38" idx="3"/>
            <a:endCxn id="40" idx="1"/>
          </p:cNvCxnSpPr>
          <p:nvPr/>
        </p:nvCxnSpPr>
        <p:spPr>
          <a:xfrm>
            <a:off x="6588224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501" y="2924945"/>
            <a:ext cx="7546851" cy="201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VLM Intelligence &amp; Decision Layer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484784"/>
            <a:ext cx="8640960" cy="136815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621957" y="1475492"/>
            <a:ext cx="44698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	</a:t>
            </a:r>
            <a:r>
              <a:rPr lang="en-US" u="sng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Theme  Extraction &amp; Aggregation</a:t>
            </a:r>
          </a:p>
          <a:p>
            <a:endParaRPr lang="en-IN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323528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Results of Image Analysis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07704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Per Image Theme match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5" idx="3"/>
            <a:endCxn id="20" idx="1"/>
          </p:cNvCxnSpPr>
          <p:nvPr/>
        </p:nvCxnSpPr>
        <p:spPr>
          <a:xfrm>
            <a:off x="1475656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3"/>
          </p:cNvCxnSpPr>
          <p:nvPr/>
        </p:nvCxnSpPr>
        <p:spPr>
          <a:xfrm>
            <a:off x="3059832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9872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Theme Freq  Analysis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6" idx="3"/>
          </p:cNvCxnSpPr>
          <p:nvPr/>
        </p:nvCxnSpPr>
        <p:spPr>
          <a:xfrm>
            <a:off x="4572000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4208" y="1916832"/>
            <a:ext cx="93610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Consistency matching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>
            <a:endCxn id="40" idx="1"/>
          </p:cNvCxnSpPr>
          <p:nvPr/>
        </p:nvCxnSpPr>
        <p:spPr>
          <a:xfrm>
            <a:off x="6156176" y="2168860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04048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Weighted Scoring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40352" y="1916832"/>
            <a:ext cx="1008112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Dominant Theme Identification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>
            <a:stCxn id="40" idx="3"/>
            <a:endCxn id="18" idx="1"/>
          </p:cNvCxnSpPr>
          <p:nvPr/>
        </p:nvCxnSpPr>
        <p:spPr>
          <a:xfrm>
            <a:off x="7380312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9512" y="3068960"/>
            <a:ext cx="84969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5650" lvl="1" indent="-247650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Pts val="1800"/>
            </a:pPr>
            <a:r>
              <a:rPr lang="en-IN" dirty="0" smtClean="0"/>
              <a:t>Example:  </a:t>
            </a: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Pts val="1800"/>
            </a:pPr>
            <a:r>
              <a:rPr lang="en-IN" sz="1400" b="1" dirty="0" smtClean="0"/>
              <a:t>Dominant Theme</a:t>
            </a:r>
            <a:r>
              <a:rPr lang="en-IN" sz="1400" dirty="0" smtClean="0"/>
              <a:t> = "tropical beach" (score: 0.41, appears 5/5 images, consistency: 78% High), Secondary = "peaceful relaxation" (score: 0.35, appears 3/5 images)</a:t>
            </a:r>
          </a:p>
          <a:p>
            <a:pPr marL="755650" lvl="1" indent="-247650">
              <a:lnSpc>
                <a:spcPct val="150000"/>
              </a:lnSpc>
              <a:spcBef>
                <a:spcPts val="20"/>
              </a:spcBef>
              <a:buClr>
                <a:srgbClr val="000000"/>
              </a:buClr>
              <a:buSzPts val="1800"/>
            </a:pPr>
            <a:r>
              <a:rPr lang="en-IN" sz="1400" b="1" dirty="0" smtClean="0"/>
              <a:t>Interpretation:</a:t>
            </a:r>
            <a:r>
              <a:rPr lang="en-IN" sz="1400" dirty="0" smtClean="0"/>
              <a:t> User prefers serene tropical beach destinations with high confidence</a:t>
            </a:r>
            <a:endParaRPr lang="en-IN" sz="1400" i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VLM Intelligence &amp; Decision Layer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484784"/>
            <a:ext cx="8640960" cy="10801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-621957" y="1475492"/>
            <a:ext cx="53819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	</a:t>
            </a:r>
            <a:r>
              <a:rPr lang="en-US" u="sng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Similar Destination and Offer optimizations</a:t>
            </a:r>
          </a:p>
          <a:p>
            <a:endParaRPr lang="en-IN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323528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50" dirty="0" smtClean="0">
                <a:solidFill>
                  <a:schemeClr val="tx1"/>
                </a:solidFill>
              </a:rPr>
              <a:t>User Preference	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07704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Similar ‘K’ Destinations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5" idx="3"/>
            <a:endCxn id="20" idx="1"/>
          </p:cNvCxnSpPr>
          <p:nvPr/>
        </p:nvCxnSpPr>
        <p:spPr>
          <a:xfrm>
            <a:off x="1475656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3"/>
          </p:cNvCxnSpPr>
          <p:nvPr/>
        </p:nvCxnSpPr>
        <p:spPr>
          <a:xfrm>
            <a:off x="3059832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9872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Destinations Offer/activities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36" idx="3"/>
          </p:cNvCxnSpPr>
          <p:nvPr/>
        </p:nvCxnSpPr>
        <p:spPr>
          <a:xfrm>
            <a:off x="4572000" y="216886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4208" y="1916832"/>
            <a:ext cx="93610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Visual Gallery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>
            <a:endCxn id="40" idx="1"/>
          </p:cNvCxnSpPr>
          <p:nvPr/>
        </p:nvCxnSpPr>
        <p:spPr>
          <a:xfrm>
            <a:off x="6156176" y="2168860"/>
            <a:ext cx="288032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04048" y="1916832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Rank Top 100	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40352" y="1916832"/>
            <a:ext cx="1008112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New  user Filters 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/>
          <p:cNvCxnSpPr>
            <a:stCxn id="40" idx="3"/>
            <a:endCxn id="18" idx="1"/>
          </p:cNvCxnSpPr>
          <p:nvPr/>
        </p:nvCxnSpPr>
        <p:spPr>
          <a:xfrm>
            <a:off x="7380312" y="2168860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780928"/>
            <a:ext cx="794385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VL Encoding </a:t>
            </a:r>
            <a:r>
              <a:rPr lang="en-US" sz="2800" dirty="0" smtClean="0">
                <a:sym typeface="Arial"/>
              </a:rPr>
              <a:t>Layer  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9512" y="1484784"/>
            <a:ext cx="8784976" cy="10801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1619672" y="1772816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 smtClean="0">
                <a:solidFill>
                  <a:schemeClr val="tx1"/>
                </a:solidFill>
              </a:rPr>
              <a:t>Image Feature Extraction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203848" y="1772816"/>
            <a:ext cx="1152128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Embedding</a:t>
            </a: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Generation</a:t>
            </a:r>
          </a:p>
        </p:txBody>
      </p:sp>
      <p:cxnSp>
        <p:nvCxnSpPr>
          <p:cNvPr id="21" name="Straight Arrow Connector 20"/>
          <p:cNvCxnSpPr>
            <a:stCxn id="25" idx="3"/>
            <a:endCxn id="20" idx="1"/>
          </p:cNvCxnSpPr>
          <p:nvPr/>
        </p:nvCxnSpPr>
        <p:spPr>
          <a:xfrm>
            <a:off x="2771800" y="2024844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0" idx="3"/>
          </p:cNvCxnSpPr>
          <p:nvPr/>
        </p:nvCxnSpPr>
        <p:spPr>
          <a:xfrm>
            <a:off x="4355976" y="2024844"/>
            <a:ext cx="360040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716016" y="1772816"/>
            <a:ext cx="1080120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Geo Tagging</a:t>
            </a:r>
          </a:p>
        </p:txBody>
      </p:sp>
      <p:cxnSp>
        <p:nvCxnSpPr>
          <p:cNvPr id="37" name="Straight Arrow Connector 36"/>
          <p:cNvCxnSpPr>
            <a:stCxn id="36" idx="3"/>
          </p:cNvCxnSpPr>
          <p:nvPr/>
        </p:nvCxnSpPr>
        <p:spPr>
          <a:xfrm>
            <a:off x="5796136" y="2024844"/>
            <a:ext cx="504056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0192" y="1772816"/>
            <a:ext cx="1296144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Geo Tagged Visual Descriptors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Can 21"/>
          <p:cNvSpPr/>
          <p:nvPr/>
        </p:nvSpPr>
        <p:spPr>
          <a:xfrm>
            <a:off x="611560" y="3212976"/>
            <a:ext cx="1224136" cy="864096"/>
          </a:xfrm>
          <a:prstGeom prst="can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Destination Catalogue DB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521" y="4191471"/>
            <a:ext cx="1872207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Stores Destination Metadata </a:t>
            </a:r>
          </a:p>
          <a:p>
            <a:endParaRPr lang="en-IN" sz="1050" dirty="0" smtClean="0"/>
          </a:p>
          <a:p>
            <a:r>
              <a:rPr lang="en-IN" sz="1050" dirty="0" smtClean="0"/>
              <a:t>(name, location, activities, best season, accessibility info)</a:t>
            </a:r>
            <a:endParaRPr lang="en-IN" sz="1050" dirty="0"/>
          </a:p>
        </p:txBody>
      </p:sp>
      <p:sp>
        <p:nvSpPr>
          <p:cNvPr id="24" name="Can 23"/>
          <p:cNvSpPr/>
          <p:nvPr/>
        </p:nvSpPr>
        <p:spPr>
          <a:xfrm>
            <a:off x="2699792" y="3212976"/>
            <a:ext cx="1224136" cy="864096"/>
          </a:xfrm>
          <a:prstGeom prst="can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Destination Vector DB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11760" y="4149080"/>
            <a:ext cx="244827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Stores Destination Vector DB</a:t>
            </a:r>
          </a:p>
          <a:p>
            <a:r>
              <a:rPr lang="en-IN" sz="1050" dirty="0" smtClean="0"/>
              <a:t>stores CLIP embeddings (512-dim vectors)</a:t>
            </a:r>
          </a:p>
        </p:txBody>
      </p:sp>
      <p:sp>
        <p:nvSpPr>
          <p:cNvPr id="28" name="Can 27"/>
          <p:cNvSpPr/>
          <p:nvPr/>
        </p:nvSpPr>
        <p:spPr>
          <a:xfrm>
            <a:off x="4788024" y="3284984"/>
            <a:ext cx="1224136" cy="792088"/>
          </a:xfrm>
          <a:prstGeom prst="can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>
                <a:solidFill>
                  <a:schemeClr val="tx1"/>
                </a:solidFill>
              </a:rPr>
              <a:t>Offers DB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44008" y="4221088"/>
            <a:ext cx="2448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Stores Destination Merchant Offers</a:t>
            </a:r>
            <a:endParaRPr lang="en-IN" sz="1050" dirty="0" smtClean="0"/>
          </a:p>
        </p:txBody>
      </p:sp>
      <p:cxnSp>
        <p:nvCxnSpPr>
          <p:cNvPr id="38" name="Elbow Connector 37"/>
          <p:cNvCxnSpPr>
            <a:stCxn id="20" idx="2"/>
            <a:endCxn id="24" idx="1"/>
          </p:cNvCxnSpPr>
          <p:nvPr/>
        </p:nvCxnSpPr>
        <p:spPr>
          <a:xfrm rot="5400000">
            <a:off x="3077834" y="2510898"/>
            <a:ext cx="936104" cy="468052"/>
          </a:xfrm>
          <a:prstGeom prst="bentConnector3">
            <a:avLst>
              <a:gd name="adj1" fmla="val 50000"/>
            </a:avLst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36" idx="2"/>
            <a:endCxn id="22" idx="1"/>
          </p:cNvCxnSpPr>
          <p:nvPr/>
        </p:nvCxnSpPr>
        <p:spPr>
          <a:xfrm rot="5400000">
            <a:off x="2771800" y="728700"/>
            <a:ext cx="936104" cy="4032448"/>
          </a:xfrm>
          <a:prstGeom prst="bentConnector3">
            <a:avLst>
              <a:gd name="adj1" fmla="val 50000"/>
            </a:avLst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Multidocument 25"/>
          <p:cNvSpPr/>
          <p:nvPr/>
        </p:nvSpPr>
        <p:spPr>
          <a:xfrm>
            <a:off x="395536" y="1772816"/>
            <a:ext cx="792088" cy="576064"/>
          </a:xfrm>
          <a:prstGeom prst="flowChartMultidocumen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 smtClean="0">
                <a:solidFill>
                  <a:schemeClr val="tx1"/>
                </a:solidFill>
                <a:hlinkClick r:id="rId3"/>
              </a:rPr>
              <a:t>Land Marks Dataset</a:t>
            </a:r>
            <a:endParaRPr lang="en-IN" sz="8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1187624" y="1988840"/>
            <a:ext cx="432048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740352" y="1772816"/>
            <a:ext cx="1080120" cy="504056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Geo-Tagged Offers</a:t>
            </a:r>
            <a:endParaRPr lang="en-IN" sz="1100" dirty="0" smtClean="0">
              <a:solidFill>
                <a:schemeClr val="tx1"/>
              </a:solidFill>
            </a:endParaRPr>
          </a:p>
          <a:p>
            <a:pPr algn="ctr"/>
            <a:endParaRPr lang="en-IN" sz="1100" dirty="0" smtClean="0">
              <a:solidFill>
                <a:schemeClr val="tx1"/>
              </a:solidFill>
            </a:endParaRPr>
          </a:p>
        </p:txBody>
      </p:sp>
      <p:cxnSp>
        <p:nvCxnSpPr>
          <p:cNvPr id="34" name="Elbow Connector 33"/>
          <p:cNvCxnSpPr>
            <a:stCxn id="17" idx="2"/>
            <a:endCxn id="22" idx="1"/>
          </p:cNvCxnSpPr>
          <p:nvPr/>
        </p:nvCxnSpPr>
        <p:spPr>
          <a:xfrm rot="5400000">
            <a:off x="3617894" y="-117394"/>
            <a:ext cx="936104" cy="57246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32" idx="2"/>
            <a:endCxn id="28" idx="1"/>
          </p:cNvCxnSpPr>
          <p:nvPr/>
        </p:nvCxnSpPr>
        <p:spPr>
          <a:xfrm rot="5400000">
            <a:off x="6336196" y="1340768"/>
            <a:ext cx="1008112" cy="2880320"/>
          </a:xfrm>
          <a:prstGeom prst="bentConnector3">
            <a:avLst>
              <a:gd name="adj1" fmla="val 50000"/>
            </a:avLst>
          </a:prstGeom>
          <a:ln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</a:t>
            </a:r>
            <a:r>
              <a:rPr lang="en-US" sz="2800" dirty="0" smtClean="0">
                <a:sym typeface="Arial"/>
              </a:rPr>
              <a:t>Conclusions  &amp; Recommendations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35" name="Google Shape;1119;p3"/>
          <p:cNvSpPr txBox="1"/>
          <p:nvPr/>
        </p:nvSpPr>
        <p:spPr>
          <a:xfrm>
            <a:off x="107504" y="1419944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b="1" u="sng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Core Achievements: </a:t>
            </a: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b="1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 </a:t>
            </a:r>
            <a:r>
              <a:rPr lang="en-IN" sz="1400" b="1" dirty="0" smtClean="0"/>
              <a:t>Multi-Image </a:t>
            </a:r>
            <a:r>
              <a:rPr lang="en-IN" sz="1400" b="1" dirty="0" smtClean="0"/>
              <a:t>Analysis:</a:t>
            </a: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CLIP based model could be successfully used for multi image analysis and similarity detection and extraction for theme based user preference, optimized travels.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 </a:t>
            </a:r>
            <a:r>
              <a:rPr lang="en-IN" sz="1400" b="1" u="sng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Key Innovation</a:t>
            </a: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: Prompt extraction from images could be used for multi dimensional preference understanding that  could not be achieved easily with Text based image searches.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</a:t>
            </a:r>
            <a:r>
              <a:rPr lang="en-IN" sz="1400" b="1" u="sng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Geo Tagged Visual Intelligence</a:t>
            </a: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Geo Tagging of prompt and Visual descriptors can be immensely useful for destination discovery within priorities set by user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b="1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</a:t>
            </a:r>
            <a:r>
              <a:rPr lang="en-IN" sz="1400" b="1" u="sng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Recommendations: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b="1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</a:t>
            </a:r>
            <a:r>
              <a:rPr lang="en-IN" sz="1400" b="1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  </a:t>
            </a: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1. Enhance the intelligence for more diverse and aggregated  themes from single destination 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</a:t>
            </a:r>
            <a:r>
              <a:rPr lang="en-IN" sz="1400" dirty="0" smtClean="0">
                <a:solidFill>
                  <a:srgbClr val="000000"/>
                </a:solidFill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  <a:sym typeface="Arial"/>
              </a:rPr>
              <a:t>    2. Real considerations on integration of site images and prompt generation for same geo tags.</a:t>
            </a: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b="1" i="1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b="1" i="1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b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3"/>
          <p:cNvSpPr txBox="1"/>
          <p:nvPr/>
        </p:nvSpPr>
        <p:spPr>
          <a:xfrm>
            <a:off x="1257300" y="440797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sz="3600" b="0" spc="-15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4000" b="1">
                <a:latin typeface="Arial" charset="0"/>
                <a:cs typeface="Arial" charset="0"/>
              </a:defRPr>
            </a:lvl2pPr>
            <a:lvl3pPr>
              <a:defRPr sz="4000" b="1">
                <a:latin typeface="Arial" charset="0"/>
                <a:cs typeface="Arial" charset="0"/>
              </a:defRPr>
            </a:lvl3pPr>
            <a:lvl4pPr>
              <a:defRPr sz="4000" b="1">
                <a:latin typeface="Arial" charset="0"/>
                <a:cs typeface="Arial" charset="0"/>
              </a:defRPr>
            </a:lvl4pPr>
            <a:lvl5pPr>
              <a:defRPr sz="4000" b="1">
                <a:latin typeface="Arial" charset="0"/>
                <a:cs typeface="Arial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 b="1">
                <a:latin typeface="Arial" charset="0"/>
                <a:cs typeface="Arial" charset="0"/>
              </a:defRPr>
            </a:lvl9pPr>
          </a:lstStyle>
          <a:p>
            <a:r>
              <a:rPr lang="en-US" sz="2800" dirty="0" smtClean="0">
                <a:sym typeface="Arial"/>
              </a:rPr>
              <a:t> </a:t>
            </a:r>
            <a:r>
              <a:rPr lang="en-US" sz="2800" dirty="0" smtClean="0">
                <a:sym typeface="Arial"/>
              </a:rPr>
              <a:t>Literatures and References:</a:t>
            </a:r>
            <a:endParaRPr lang="en-US" sz="2800" dirty="0">
              <a:sym typeface="Arial"/>
            </a:endParaRPr>
          </a:p>
        </p:txBody>
      </p:sp>
      <p:sp>
        <p:nvSpPr>
          <p:cNvPr id="1119" name="Google Shape;1119;p3"/>
          <p:cNvSpPr txBox="1"/>
          <p:nvPr/>
        </p:nvSpPr>
        <p:spPr>
          <a:xfrm>
            <a:off x="57150" y="1299645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684000" lvl="1" indent="-144000">
              <a:lnSpc>
                <a:spcPct val="15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IN" sz="1800" dirty="0" smtClean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Wingdings" pitchFamily="2" charset="2"/>
              </a:rPr>
              <a:t> </a:t>
            </a:r>
            <a:endParaRPr lang="en-IN" sz="18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35" name="Google Shape;1119;p3"/>
          <p:cNvSpPr txBox="1"/>
          <p:nvPr/>
        </p:nvSpPr>
        <p:spPr>
          <a:xfrm>
            <a:off x="107504" y="1419944"/>
            <a:ext cx="885825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b="1" i="1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683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b="1" i="1" dirty="0" smtClean="0">
              <a:solidFill>
                <a:srgbClr val="000000"/>
              </a:solidFill>
              <a:latin typeface="Times New Roman" pitchFamily="18" charset="0"/>
              <a:ea typeface="Cambria" panose="02040503050406030204" pitchFamily="18" charset="0"/>
              <a:cs typeface="Times New Roman" pitchFamily="18" charset="0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sz="1400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b="1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355600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</a:pPr>
            <a:endParaRPr lang="en-IN" dirty="0" smtClean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1520" y="1340768"/>
            <a:ext cx="8352928" cy="43924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chemeClr val="tx1"/>
                </a:solidFill>
              </a:rPr>
              <a:t>References</a:t>
            </a:r>
          </a:p>
          <a:p>
            <a:r>
              <a:rPr lang="en-IN" sz="1200" dirty="0" smtClean="0">
                <a:solidFill>
                  <a:schemeClr val="tx1"/>
                </a:solidFill>
              </a:rPr>
              <a:t>[</a:t>
            </a:r>
            <a:r>
              <a:rPr lang="en-IN" sz="1200" dirty="0" smtClean="0">
                <a:solidFill>
                  <a:schemeClr val="tx1"/>
                </a:solidFill>
              </a:rPr>
              <a:t>1] A</a:t>
            </a:r>
            <a:r>
              <a:rPr lang="en-IN" sz="1200" dirty="0" smtClean="0">
                <a:solidFill>
                  <a:schemeClr val="tx1"/>
                </a:solidFill>
              </a:rPr>
              <a:t>. Radford et al., "Learning Transferable Visual Models From Natural Language Supervision," </a:t>
            </a:r>
            <a:r>
              <a:rPr lang="en-IN" sz="1200" i="1" dirty="0" smtClean="0">
                <a:solidFill>
                  <a:schemeClr val="tx1"/>
                </a:solidFill>
              </a:rPr>
              <a:t>Proceedings of the 38th International Conference on Machine Learning (ICML)</a:t>
            </a:r>
            <a:r>
              <a:rPr lang="en-IN" sz="1200" dirty="0" smtClean="0">
                <a:solidFill>
                  <a:schemeClr val="tx1"/>
                </a:solidFill>
              </a:rPr>
              <a:t>, vol. 139, pp. 8748–8763, Jul. 2021. [Online]. Available: </a:t>
            </a:r>
            <a:r>
              <a:rPr lang="en-IN" sz="1200" dirty="0" smtClean="0">
                <a:solidFill>
                  <a:schemeClr val="tx1"/>
                </a:solidFill>
                <a:hlinkClick r:id="rId3"/>
              </a:rPr>
              <a:t>https://arxiv.org/abs/2103.00020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[2] Y. Chen, L. Wang, and Z. Liu, "</a:t>
            </a:r>
            <a:r>
              <a:rPr lang="en-IN" sz="1200" dirty="0" err="1" smtClean="0">
                <a:solidFill>
                  <a:schemeClr val="tx1"/>
                </a:solidFill>
              </a:rPr>
              <a:t>MyVLM</a:t>
            </a:r>
            <a:r>
              <a:rPr lang="en-IN" sz="1200" dirty="0" smtClean="0">
                <a:solidFill>
                  <a:schemeClr val="tx1"/>
                </a:solidFill>
              </a:rPr>
              <a:t>: Personalizing Vision-Language Models for User-Specific Queries," </a:t>
            </a:r>
            <a:r>
              <a:rPr lang="en-IN" sz="1200" i="1" dirty="0" smtClean="0">
                <a:solidFill>
                  <a:schemeClr val="tx1"/>
                </a:solidFill>
              </a:rPr>
              <a:t>European Conference on Computer Vision (ECCV)</a:t>
            </a:r>
            <a:r>
              <a:rPr lang="en-IN" sz="1200" dirty="0" smtClean="0">
                <a:solidFill>
                  <a:schemeClr val="tx1"/>
                </a:solidFill>
              </a:rPr>
              <a:t>, 2024. [Online]. Available: </a:t>
            </a:r>
            <a:r>
              <a:rPr lang="en-IN" sz="1200" dirty="0" smtClean="0">
                <a:solidFill>
                  <a:schemeClr val="tx1"/>
                </a:solidFill>
                <a:hlinkClick r:id="rId4"/>
              </a:rPr>
              <a:t>https://arxiv.org/abs/2403.14599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[3] H. Zhao, X. Li, and T. </a:t>
            </a:r>
            <a:r>
              <a:rPr lang="en-IN" sz="1200" dirty="0" err="1" smtClean="0">
                <a:solidFill>
                  <a:schemeClr val="tx1"/>
                </a:solidFill>
              </a:rPr>
              <a:t>Xu</a:t>
            </a:r>
            <a:r>
              <a:rPr lang="en-IN" sz="1200" dirty="0" smtClean="0">
                <a:solidFill>
                  <a:schemeClr val="tx1"/>
                </a:solidFill>
              </a:rPr>
              <a:t>, "</a:t>
            </a:r>
            <a:r>
              <a:rPr lang="en-IN" sz="1200" dirty="0" err="1" smtClean="0">
                <a:solidFill>
                  <a:schemeClr val="tx1"/>
                </a:solidFill>
              </a:rPr>
              <a:t>VisionReward</a:t>
            </a:r>
            <a:r>
              <a:rPr lang="en-IN" sz="1200" dirty="0" smtClean="0">
                <a:solidFill>
                  <a:schemeClr val="tx1"/>
                </a:solidFill>
              </a:rPr>
              <a:t>: Fine-Grained Multi-Dimensional Human Preference Learning for Image and Video Generation," </a:t>
            </a:r>
            <a:r>
              <a:rPr lang="en-IN" sz="1200" i="1" dirty="0" err="1" smtClean="0">
                <a:solidFill>
                  <a:schemeClr val="tx1"/>
                </a:solidFill>
              </a:rPr>
              <a:t>arXiv</a:t>
            </a:r>
            <a:r>
              <a:rPr lang="en-IN" sz="1200" i="1" dirty="0" smtClean="0">
                <a:solidFill>
                  <a:schemeClr val="tx1"/>
                </a:solidFill>
              </a:rPr>
              <a:t> preprint arXiv:2412.21059</a:t>
            </a:r>
            <a:r>
              <a:rPr lang="en-IN" sz="1200" dirty="0" smtClean="0">
                <a:solidFill>
                  <a:schemeClr val="tx1"/>
                </a:solidFill>
              </a:rPr>
              <a:t>, Dec. 2024. [Online]. Available: </a:t>
            </a:r>
            <a:r>
              <a:rPr lang="en-IN" sz="1200" dirty="0" smtClean="0">
                <a:solidFill>
                  <a:schemeClr val="tx1"/>
                </a:solidFill>
                <a:hlinkClick r:id="rId5"/>
              </a:rPr>
              <a:t>https://arxiv.org/abs/2412.21059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[4] C. Wang, L. </a:t>
            </a:r>
            <a:r>
              <a:rPr lang="en-IN" sz="1200" dirty="0" err="1" smtClean="0">
                <a:solidFill>
                  <a:schemeClr val="tx1"/>
                </a:solidFill>
              </a:rPr>
              <a:t>Feng</a:t>
            </a:r>
            <a:r>
              <a:rPr lang="en-IN" sz="1200" dirty="0" smtClean="0">
                <a:solidFill>
                  <a:schemeClr val="tx1"/>
                </a:solidFill>
              </a:rPr>
              <a:t>, and P. Li, "A Multimodal Travel Route Recommendation System Leveraging Visual and Textual Representation," </a:t>
            </a:r>
            <a:r>
              <a:rPr lang="en-IN" sz="1200" i="1" dirty="0" smtClean="0">
                <a:solidFill>
                  <a:schemeClr val="tx1"/>
                </a:solidFill>
              </a:rPr>
              <a:t>Frontiers in Computer Science</a:t>
            </a:r>
            <a:r>
              <a:rPr lang="en-IN" sz="1200" dirty="0" smtClean="0">
                <a:solidFill>
                  <a:schemeClr val="tx1"/>
                </a:solidFill>
              </a:rPr>
              <a:t>, vol. 6, pp. 1–12, Nov. 2024. [Online]. Available: </a:t>
            </a:r>
            <a:r>
              <a:rPr lang="en-IN" sz="1200" dirty="0" smtClean="0">
                <a:solidFill>
                  <a:schemeClr val="tx1"/>
                </a:solidFill>
                <a:hlinkClick r:id="rId6"/>
              </a:rPr>
              <a:t>https://</a:t>
            </a:r>
            <a:r>
              <a:rPr lang="en-IN" sz="1200" dirty="0" smtClean="0">
                <a:solidFill>
                  <a:schemeClr val="tx1"/>
                </a:solidFill>
                <a:hlinkClick r:id="rId6"/>
              </a:rPr>
              <a:t>www.frontiersin.org/articles/10.3389/fcomp.2024.1249185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[5] </a:t>
            </a:r>
            <a:r>
              <a:rPr lang="en-IN" sz="1200" dirty="0" smtClean="0">
                <a:solidFill>
                  <a:schemeClr val="tx1"/>
                </a:solidFill>
              </a:rPr>
              <a:t>A. </a:t>
            </a:r>
            <a:r>
              <a:rPr lang="en-IN" sz="1200" dirty="0" err="1" smtClean="0">
                <a:solidFill>
                  <a:schemeClr val="tx1"/>
                </a:solidFill>
              </a:rPr>
              <a:t>Dosovitskiy</a:t>
            </a:r>
            <a:r>
              <a:rPr lang="en-IN" sz="1200" dirty="0" smtClean="0">
                <a:solidFill>
                  <a:schemeClr val="tx1"/>
                </a:solidFill>
              </a:rPr>
              <a:t> et al., "An Image is Worth 16x16 Words: Transformers for Image Recognition at Scale," </a:t>
            </a:r>
            <a:r>
              <a:rPr lang="en-IN" sz="1200" i="1" dirty="0" smtClean="0">
                <a:solidFill>
                  <a:schemeClr val="tx1"/>
                </a:solidFill>
              </a:rPr>
              <a:t>International Conference on Learning Representations (ICLR)</a:t>
            </a:r>
            <a:r>
              <a:rPr lang="en-IN" sz="1200" dirty="0" smtClean="0">
                <a:solidFill>
                  <a:schemeClr val="tx1"/>
                </a:solidFill>
              </a:rPr>
              <a:t>, 2021. [Online]. Available: </a:t>
            </a:r>
            <a:r>
              <a:rPr lang="en-IN" sz="1200" dirty="0" smtClean="0">
                <a:solidFill>
                  <a:schemeClr val="tx1"/>
                </a:solidFill>
                <a:hlinkClick r:id="rId7"/>
              </a:rPr>
              <a:t>https://arxiv.org/abs/2010.11929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[6] </a:t>
            </a:r>
            <a:r>
              <a:rPr lang="en-IN" sz="1200" dirty="0" smtClean="0">
                <a:solidFill>
                  <a:schemeClr val="tx1"/>
                </a:solidFill>
              </a:rPr>
              <a:t>Google Landmarks Dataset V2, "A Large-Scale Benchmark for Instance-Level Recognition and Retrieval," </a:t>
            </a:r>
            <a:r>
              <a:rPr lang="en-IN" sz="1200" i="1" dirty="0" smtClean="0">
                <a:solidFill>
                  <a:schemeClr val="tx1"/>
                </a:solidFill>
              </a:rPr>
              <a:t>IEEE/CVF Conference on Computer Vision and Pattern Recognition (CVPR)</a:t>
            </a:r>
            <a:r>
              <a:rPr lang="en-IN" sz="1200" dirty="0" smtClean="0">
                <a:solidFill>
                  <a:schemeClr val="tx1"/>
                </a:solidFill>
              </a:rPr>
              <a:t>, pp. 2575–2584, 2020. [Online]. Available: </a:t>
            </a:r>
            <a:r>
              <a:rPr lang="en-IN" sz="1200" dirty="0" smtClean="0">
                <a:solidFill>
                  <a:schemeClr val="tx1"/>
                </a:solidFill>
                <a:hlinkClick r:id="rId8"/>
              </a:rPr>
              <a:t>https://github.com/cvdfoundation/google-landmark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sz="1200" dirty="0" smtClean="0">
                <a:solidFill>
                  <a:schemeClr val="tx1"/>
                </a:solidFill>
              </a:rPr>
              <a:t>[7] </a:t>
            </a:r>
            <a:r>
              <a:rPr lang="en-IN" sz="1200" dirty="0" smtClean="0">
                <a:solidFill>
                  <a:schemeClr val="tx1"/>
                </a:solidFill>
              </a:rPr>
              <a:t>S. </a:t>
            </a:r>
            <a:r>
              <a:rPr lang="en-IN" sz="1200" dirty="0" err="1" smtClean="0">
                <a:solidFill>
                  <a:schemeClr val="tx1"/>
                </a:solidFill>
              </a:rPr>
              <a:t>Antol</a:t>
            </a:r>
            <a:r>
              <a:rPr lang="en-IN" sz="1200" dirty="0" smtClean="0">
                <a:solidFill>
                  <a:schemeClr val="tx1"/>
                </a:solidFill>
              </a:rPr>
              <a:t> et al., "VQA: Visual Question Answering," </a:t>
            </a:r>
            <a:r>
              <a:rPr lang="en-IN" sz="1200" i="1" dirty="0" smtClean="0">
                <a:solidFill>
                  <a:schemeClr val="tx1"/>
                </a:solidFill>
              </a:rPr>
              <a:t>IEEE International Conference on Computer Vision (ICCV)</a:t>
            </a:r>
            <a:r>
              <a:rPr lang="en-IN" sz="1200" dirty="0" smtClean="0">
                <a:solidFill>
                  <a:schemeClr val="tx1"/>
                </a:solidFill>
              </a:rPr>
              <a:t>, pp. 2425–2433, 2015. [Online]. Available: </a:t>
            </a:r>
            <a:r>
              <a:rPr lang="en-IN" sz="1200" dirty="0" smtClean="0">
                <a:solidFill>
                  <a:schemeClr val="tx1"/>
                </a:solidFill>
                <a:hlinkClick r:id="rId9"/>
              </a:rPr>
              <a:t>https://arxiv.org/abs/1505.00468</a:t>
            </a:r>
            <a:endParaRPr lang="en-IN" sz="1200" dirty="0" smtClean="0">
              <a:solidFill>
                <a:schemeClr val="tx1"/>
              </a:solidFill>
            </a:endParaRPr>
          </a:p>
          <a:p>
            <a:endParaRPr lang="en-IN" sz="1200" dirty="0" smtClean="0">
              <a:solidFill>
                <a:schemeClr val="tx1"/>
              </a:solidFill>
            </a:endParaRP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019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829</Words>
  <Application>Microsoft Office PowerPoint</Application>
  <PresentationFormat>On-screen Show (4:3)</PresentationFormat>
  <Paragraphs>153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Visual Intelligence for Personalized Travel Planning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Ashwin</dc:creator>
  <cp:lastModifiedBy>Ashwin</cp:lastModifiedBy>
  <cp:revision>85</cp:revision>
  <dcterms:created xsi:type="dcterms:W3CDTF">2026-02-01T04:22:20Z</dcterms:created>
  <dcterms:modified xsi:type="dcterms:W3CDTF">2026-02-01T16:23:02Z</dcterms:modified>
</cp:coreProperties>
</file>